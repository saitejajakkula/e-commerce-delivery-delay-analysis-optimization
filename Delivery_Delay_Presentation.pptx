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🔴 North
(WORST)</c:v>
                  </c:pt>
                  <c:pt idx="1">
                    <c:v>East</c:v>
                  </c:pt>
                  <c:pt idx="2">
                    <c:v>South</c:v>
                  </c:pt>
                  <c:pt idx="3">
                    <c:v>West
(Best)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55.8</c:v>
                </c:pt>
                <c:pt idx="1">
                  <c:v>51</c:v>
                </c:pt>
                <c:pt idx="2">
                  <c:v>47.6</c:v>
                </c:pt>
                <c:pt idx="3">
                  <c:v>42.9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30"/>
        </c:scaling>
        <c:delete val="0"/>
        <c:axPos val="b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🔴 India Post
(WORST)</c:v>
                  </c:pt>
                  <c:pt idx="1">
                    <c:v>DTDC</c:v>
                  </c:pt>
                  <c:pt idx="2">
                    <c:v>Blue Dart</c:v>
                  </c:pt>
                  <c:pt idx="3">
                    <c:v>Delhivery</c:v>
                  </c:pt>
                  <c:pt idx="4">
                    <c:v>🟢 Ecom Express
(BEST)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57.3</c:v>
                </c:pt>
                <c:pt idx="1">
                  <c:v>52.2</c:v>
                </c:pt>
                <c:pt idx="2">
                  <c:v>47.6</c:v>
                </c:pt>
                <c:pt idx="3">
                  <c:v>46.1</c:v>
                </c:pt>
                <c:pt idx="4">
                  <c:v>43.7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30"/>
        </c:scaling>
        <c:delete val="0"/>
        <c:axPos val="b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Rate %</c:v>
                </c:pt>
              </c:strCache>
            </c:strRef>
          </c:tx>
          <c:spPr>
            <a:solidFill>
              <a:srgbClr val="F4841F"/>
            </a:solidFill>
            <a:ln w="38100" cap="flat">
              <a:solidFill>
                <a:srgbClr val="F484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841F"/>
              </a:solidFill>
              <a:ln w="9525" cap="flat">
                <a:solidFill>
                  <a:srgbClr val="F484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59.5</c:v>
                </c:pt>
                <c:pt idx="1">
                  <c:v>47</c:v>
                </c:pt>
                <c:pt idx="2">
                  <c:v>45.5</c:v>
                </c:pt>
                <c:pt idx="3">
                  <c:v>48</c:v>
                </c:pt>
                <c:pt idx="4">
                  <c:v>49</c:v>
                </c:pt>
                <c:pt idx="5">
                  <c:v>48.5</c:v>
                </c:pt>
                <c:pt idx="6">
                  <c:v>47.5</c:v>
                </c:pt>
                <c:pt idx="7">
                  <c:v>50</c:v>
                </c:pt>
                <c:pt idx="8">
                  <c:v>56.3</c:v>
                </c:pt>
                <c:pt idx="9">
                  <c:v>50.5</c:v>
                </c:pt>
                <c:pt idx="10">
                  <c:v>48</c:v>
                </c:pt>
                <c:pt idx="11">
                  <c:v>47.5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35"/>
        </c:scaling>
        <c:delete val="0"/>
        <c:axPos val="l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Now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Overall Delays</c:v>
                  </c:pt>
                  <c:pt idx="1">
                    <c:v>India Post Delays</c:v>
                  </c:pt>
                  <c:pt idx="2">
                    <c:v>North India</c:v>
                  </c:pt>
                  <c:pt idx="3">
                    <c:v>January Spike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49.5</c:v>
                </c:pt>
                <c:pt idx="1">
                  <c:v>57.3</c:v>
                </c:pt>
                <c:pt idx="2">
                  <c:v>55.8</c:v>
                </c:pt>
                <c:pt idx="3">
                  <c:v>59.5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12-Month Target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Overall Delays</c:v>
                  </c:pt>
                  <c:pt idx="1">
                    <c:v>India Post Delays</c:v>
                  </c:pt>
                  <c:pt idx="2">
                    <c:v>North India</c:v>
                  </c:pt>
                  <c:pt idx="3">
                    <c:v>January Spike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</c:v>
                </c:pt>
                <c:pt idx="1">
                  <c:v>40</c:v>
                </c:pt>
                <c:pt idx="2">
                  <c:v>35</c:v>
                </c:pt>
                <c:pt idx="3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841F"/>
          </a:solidFill>
          <a:ln w="12700">
            <a:solidFill>
              <a:srgbClr val="F48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HALF OUR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 LATE?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breakdown: what went wrong, who caused it,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6-step fix worth ₹21 Crore a year.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3337560"/>
            <a:ext cx="2743200" cy="475488"/>
          </a:xfrm>
          <a:prstGeom prst="rect">
            <a:avLst>
              <a:gd name="adj" fmla="val 9615"/>
            </a:avLst>
          </a:prstGeom>
          <a:solidFill>
            <a:srgbClr val="F4841F"/>
          </a:solidFill>
          <a:ln w="12700">
            <a:solidFill>
              <a:srgbClr val="F484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337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Orders  |  Jan–Dec 2023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Saiteja Jakkula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114800" cy="3200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48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49.5%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orders arrived LATE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4114800" cy="457200"/>
          </a:xfrm>
          <a:prstGeom prst="rect">
            <a:avLst/>
          </a:prstGeom>
          <a:solidFill>
            <a:srgbClr val="F4841F"/>
          </a:solidFill>
          <a:ln w="12700">
            <a:solidFill>
              <a:srgbClr val="F484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0215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norm = 15%  →  We're 3× worse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38404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868680"/>
            <a:ext cx="73152" cy="9326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914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2,476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0" y="13624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arrived late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56362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5,000 total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947672"/>
            <a:ext cx="38404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947672"/>
            <a:ext cx="73152" cy="9326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99339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029200" y="2441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normal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64261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026664"/>
            <a:ext cx="38404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026664"/>
            <a:ext cx="73152" cy="9326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07238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029200" y="35204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worse we are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37216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competitors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2nd customer doesn't get their order on time.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LATE DELIVERY HURTS THE BUSINESS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1188720"/>
          </a:xfrm>
          <a:prstGeom prst="rect">
            <a:avLst/>
          </a:prstGeom>
          <a:solidFill>
            <a:srgbClr val="F4F6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9144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5880" y="886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Reviews Pile Up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25880" y="1325880"/>
            <a:ext cx="233172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9032" y="13350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99032" y="1517904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= #1 cause of negative reviews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76472" y="1325880"/>
            <a:ext cx="233172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9624" y="13350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9624" y="1517904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stars → fewer new customers discover 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27064" y="1325880"/>
            <a:ext cx="233172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3350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00216" y="1517904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delivery first, marketing spend becomes more effective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94560"/>
            <a:ext cx="8412480" cy="1188720"/>
          </a:xfrm>
          <a:prstGeom prst="rect">
            <a:avLst/>
          </a:prstGeom>
          <a:solidFill>
            <a:srgbClr val="F4F6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194560"/>
            <a:ext cx="9144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267712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25880" y="22402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Orders (3× Higher)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325880" y="2679192"/>
            <a:ext cx="233172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99032" y="26883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399032" y="287121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&gt;7 days late get cancelled 3× more often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76472" y="2679192"/>
            <a:ext cx="233172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9624" y="26883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49624" y="287121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sale + return shipping cost + wasted inventory slot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27064" y="2679192"/>
            <a:ext cx="233172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26883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00216" y="287121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delays below 7 days to cut cancellation losses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547872"/>
            <a:ext cx="8412480" cy="1188720"/>
          </a:xfrm>
          <a:prstGeom prst="rect">
            <a:avLst/>
          </a:prstGeom>
          <a:solidFill>
            <a:srgbClr val="F4F6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547872"/>
            <a:ext cx="91440" cy="1188720"/>
          </a:xfrm>
          <a:prstGeom prst="rect">
            <a:avLst/>
          </a:prstGeom>
          <a:solidFill>
            <a:srgbClr val="F4841F"/>
          </a:solidFill>
          <a:ln w="12700">
            <a:solidFill>
              <a:srgbClr val="F484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621024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🚶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325880" y="35935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Don't Come Back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325880" y="4032504"/>
            <a:ext cx="233172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99032" y="40416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399032" y="422452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delayed customers don't reorder within 90 days*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776472" y="4032504"/>
            <a:ext cx="233172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9624" y="40416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849624" y="422452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kills long-term revenue — most profit comes from repeat buyers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27064" y="4032504"/>
            <a:ext cx="233172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0216" y="40416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00216" y="422452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customers by fixing delivery → biggest ROI of all fixes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Based on cohort analysis of repeat purchase behaviour within 90 days post-delivery.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 IS THE BIGGEST BOTTLENECK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delays (55.8%) are 12.9 points above the best region — too large to be random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51560"/>
            <a:ext cx="274320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53328" y="11430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53328" y="139903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at 55.8% — 12.9pp gap vs West at 42.9%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2221992"/>
            <a:ext cx="274320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53328" y="23134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53328" y="2569464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~135 extra delayed orders per 1,000 vs best region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3392424"/>
            <a:ext cx="274320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53328" y="34838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53328" y="3739896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ops audit of Delhi &amp; Lucknow last-mile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3600" y="4526280"/>
            <a:ext cx="2743200" cy="365760"/>
          </a:xfrm>
          <a:prstGeom prst="rect">
            <a:avLst/>
          </a:prstGeom>
          <a:solidFill>
            <a:srgbClr val="0F1E36"/>
          </a:solidFill>
          <a:ln w="12700">
            <a:solidFill>
              <a:srgbClr val="0F1E3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61888" y="4535424"/>
            <a:ext cx="2706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regions above 40% — systemic problem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POST UNDERPERFORMS ACROSS EVERY METRIC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13.6pp gap between worst (India Post) and best (Ecom Express) — same routes, same product mix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51560"/>
            <a:ext cx="274320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53328" y="11430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53328" y="139903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Post: 57.3% late, avg 7.8 days per delivery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2221992"/>
            <a:ext cx="274320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53328" y="23134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53328" y="2569464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extra late deliveries per 1,000 orders vs Ecom Express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3392424"/>
            <a:ext cx="274320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53328" y="34838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53328" y="3739896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contract with SLA penalties or reduce volume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3600" y="4526280"/>
            <a:ext cx="2743200" cy="365760"/>
          </a:xfrm>
          <a:prstGeom prst="rect">
            <a:avLst/>
          </a:prstGeom>
          <a:solidFill>
            <a:srgbClr val="0F1E36"/>
          </a:solidFill>
          <a:ln w="12700">
            <a:solidFill>
              <a:srgbClr val="0F1E3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61888" y="4535424"/>
            <a:ext cx="2706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8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performance already exists in-house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"INDIA POST IS CHEAPER" — THE MATH SAYS OTHERWISE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39319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Post  [WORST]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18488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4721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fee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77824" y="172821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Rs.45 per shipment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395728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2494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late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" y="250545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57.3% arrive late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5351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172968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0266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cost / delayed order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7824" y="328269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Rs.320 real cost per delay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730752"/>
            <a:ext cx="3931920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3950208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8039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 1,000 orders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824" y="405993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Rs.2,28,000 per 1,000 orders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09160" y="804672"/>
            <a:ext cx="39319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8046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 Express  [BEST]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09160" y="139903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73752" y="1618488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9784" y="14721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fee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9784" y="172821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Rs.58 per shipment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09160" y="217627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73752" y="2395728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9784" y="22494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late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9784" y="250545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43.7% arrive late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09160" y="295351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73752" y="3172968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9784" y="30266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cost / delayed order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9784" y="328269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Rs.180 real cost per delay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709160" y="3730752"/>
            <a:ext cx="393192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73752" y="3950208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9784" y="38039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 1,000 orders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29784" y="405993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Rs.1,37,000 per 1,000 orders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59028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India Post costs ₹91,000 MORE per 1,000 orders once you factor in refunds, cancellations &amp; churn.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&amp; SEPTEMBER SPIKES ARE 100% PREDICTABLE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surge months repeat every year — the planning should too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84124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24528"/>
            <a:ext cx="4023360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42611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January — 59.5%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45354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Post-holiday rush overwhelms warehouse. Predictable from prior year.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00600" y="4224528"/>
            <a:ext cx="402336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42611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🪔  September — 56.3%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0" y="45354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Pre-Diwali surge. Courier capacity not booked in advance.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841F"/>
          </a:solidFill>
          <a:ln w="12700">
            <a:solidFill>
              <a:srgbClr val="F48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ROOT CAUSES — BOTH FIXABLE WITHIN 90 DAYS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321040" cy="1828800"/>
          </a:xfrm>
          <a:prstGeom prst="rect">
            <a:avLst/>
          </a:prstGeom>
          <a:solidFill>
            <a:srgbClr val="1E3461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44168"/>
            <a:ext cx="685800" cy="6858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6245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93268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Penalty for Being Late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325880" y="1389888"/>
            <a:ext cx="2331720" cy="1143000"/>
          </a:xfrm>
          <a:prstGeom prst="rect">
            <a:avLst/>
          </a:prstGeom>
          <a:solidFill>
            <a:srgbClr val="1A3A6B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4356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16916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Post &amp; DTDC contracts have zero financial consequence for delays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94760" y="1389888"/>
            <a:ext cx="2331720" cy="1143000"/>
          </a:xfrm>
          <a:prstGeom prst="rect">
            <a:avLst/>
          </a:prstGeom>
          <a:solidFill>
            <a:srgbClr val="4A1C1C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14356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86200" y="16916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Couriers have no commercial reason to prioritise our shipments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389888"/>
            <a:ext cx="2331720" cy="1143000"/>
          </a:xfrm>
          <a:prstGeom prst="rect">
            <a:avLst/>
          </a:prstGeom>
          <a:solidFill>
            <a:srgbClr val="14372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4356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55080" y="16916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SLA penalty clause → instant accountability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71216"/>
            <a:ext cx="8321040" cy="1828800"/>
          </a:xfrm>
          <a:prstGeom prst="rect">
            <a:avLst/>
          </a:prstGeom>
          <a:solidFill>
            <a:srgbClr val="1E3461"/>
          </a:solidFill>
          <a:ln w="12700">
            <a:solidFill>
              <a:srgbClr val="F484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374136"/>
            <a:ext cx="685800" cy="685800"/>
          </a:xfrm>
          <a:prstGeom prst="ellipse">
            <a:avLst/>
          </a:prstGeom>
          <a:solidFill>
            <a:srgbClr val="F4841F"/>
          </a:solidFill>
          <a:ln w="12700">
            <a:solidFill>
              <a:srgbClr val="F484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92424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25880" y="2962656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8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 for Busy Seasons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325880" y="3419856"/>
            <a:ext cx="2331720" cy="1143000"/>
          </a:xfrm>
          <a:prstGeom prst="rect">
            <a:avLst/>
          </a:prstGeom>
          <a:solidFill>
            <a:srgbClr val="1A3A6B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34655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17320" y="3721608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(post-New Year) and Sep (pre-Diwali) surges are ignored in capacity planning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94760" y="3419856"/>
            <a:ext cx="2331720" cy="1143000"/>
          </a:xfrm>
          <a:prstGeom prst="rect">
            <a:avLst/>
          </a:prstGeom>
          <a:solidFill>
            <a:srgbClr val="4A1C1C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34655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86200" y="3721608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backlogs cascade into delivery delays for weeks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3419856"/>
            <a:ext cx="2331720" cy="1143000"/>
          </a:xfrm>
          <a:prstGeom prst="rect">
            <a:avLst/>
          </a:prstGeom>
          <a:solidFill>
            <a:srgbClr val="14372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4655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55080" y="3721608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Pre-book +30% courier capacity 3 weeks before each peak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FIXES — SEQUENCED BY SPEED &amp; IMPACT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11480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04672"/>
            <a:ext cx="73152" cy="12435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77824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859536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penalty clauses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courier contracts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2646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= courier pays. No exceptions.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67328" y="877824"/>
            <a:ext cx="59436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7328" y="8778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11880" y="1673352"/>
            <a:ext cx="77724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6733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−10% delays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411480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194560"/>
            <a:ext cx="73152" cy="1243584"/>
          </a:xfrm>
          <a:prstGeom prst="rect">
            <a:avLst/>
          </a:prstGeom>
          <a:solidFill>
            <a:srgbClr val="F4841F"/>
          </a:solidFill>
          <a:ln w="12700">
            <a:solidFill>
              <a:srgbClr val="F484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67712"/>
            <a:ext cx="502920" cy="502920"/>
          </a:xfrm>
          <a:prstGeom prst="ellipse">
            <a:avLst/>
          </a:prstGeom>
          <a:solidFill>
            <a:srgbClr val="F4841F"/>
          </a:solidFill>
          <a:ln w="12700">
            <a:solidFill>
              <a:srgbClr val="F484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86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" y="224942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big orders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best couriers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28163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&gt;₹15K → Ecom Express or Delhivery only.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67328" y="2267712"/>
            <a:ext cx="59436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7328" y="22677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11880" y="3063240"/>
            <a:ext cx="777240" cy="256032"/>
          </a:xfrm>
          <a:prstGeom prst="rect">
            <a:avLst/>
          </a:prstGeom>
          <a:solidFill>
            <a:srgbClr val="F4841F"/>
          </a:solidFill>
          <a:ln w="12700">
            <a:solidFill>
              <a:srgbClr val="F484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30632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−₹2.5Cr risk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584448"/>
            <a:ext cx="411480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584448"/>
            <a:ext cx="73152" cy="12435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65760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75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15568" y="363931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Pre-book capacity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Jan &amp; Sep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4206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courier capacity — 3 weeks early, every year.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67328" y="3657600"/>
            <a:ext cx="59436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67328" y="36576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11880" y="4453128"/>
            <a:ext cx="77724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4453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 spikes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804672"/>
            <a:ext cx="411480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804672"/>
            <a:ext cx="73152" cy="12435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877824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8961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458968" y="859536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dashboard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58968" y="142646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Auto-alert if any courier crosses 45% late rate.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10728" y="877824"/>
            <a:ext cx="59436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0728" y="8778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955280" y="1673352"/>
            <a:ext cx="77724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0" y="16733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2194560"/>
            <a:ext cx="411480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2194560"/>
            <a:ext cx="73152" cy="1243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226771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2286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458968" y="224942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North India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problem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58968" y="28163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audit of Delhi &amp; Lucknow delivery hubs.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110728" y="2267712"/>
            <a:ext cx="59436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10728" y="22677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955280" y="3063240"/>
            <a:ext cx="7772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55280" y="30632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−8% in North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09160" y="3584448"/>
            <a:ext cx="411480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709160" y="3584448"/>
            <a:ext cx="73152" cy="1243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6320" y="365760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3675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5458968" y="363931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customers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they call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458968" y="4206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 delay alert + 10% voucher in 24 hrs.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110728" y="3657600"/>
            <a:ext cx="59436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10728" y="36576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955280" y="4453128"/>
            <a:ext cx="7772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55280" y="4453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 cancels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12 MONTHS?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77240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537960" y="777240"/>
            <a:ext cx="214884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537960" y="9144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8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₹18–21 Cr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537960" y="15544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protected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537960" y="2286000"/>
            <a:ext cx="214884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37960" y="23774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 cancellations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37960" y="26974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proactive alerts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37960" y="3337560"/>
            <a:ext cx="214884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37960" y="34290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+15–20% repeat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37960" y="393192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90 days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4663440"/>
            <a:ext cx="8321040" cy="292608"/>
          </a:xfrm>
          <a:prstGeom prst="rect">
            <a:avLst/>
          </a:prstGeom>
          <a:solidFill>
            <a:srgbClr val="F4F6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681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based on industry benchmarks for courier optimisation programs — conservatively estimated.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841F"/>
          </a:solidFill>
          <a:ln w="12700">
            <a:solidFill>
              <a:srgbClr val="F48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321040" cy="676656"/>
          </a:xfrm>
          <a:prstGeom prst="rect">
            <a:avLst/>
          </a:prstGeom>
          <a:solidFill>
            <a:srgbClr val="1E3461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9784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2 deliveries is late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30168" y="9784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30168" y="118872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worse than industry norm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63056" y="9784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63056" y="118872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courier contracts first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700784"/>
            <a:ext cx="8321040" cy="676656"/>
          </a:xfrm>
          <a:prstGeom prst="rect">
            <a:avLst/>
          </a:prstGeom>
          <a:solidFill>
            <a:srgbClr val="1E3461"/>
          </a:solidFill>
          <a:ln w="12700">
            <a:solidFill>
              <a:srgbClr val="F484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105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🚚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1764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97280" y="197510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Post is the biggest culprit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30168" y="1764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30168" y="197510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57.3% delay — and actually costs more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63056" y="1764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63056" y="197510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volume to Ecom Express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487168"/>
            <a:ext cx="8321040" cy="676656"/>
          </a:xfrm>
          <a:prstGeom prst="rect">
            <a:avLst/>
          </a:prstGeom>
          <a:solidFill>
            <a:srgbClr val="1E3461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5968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25511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97280" y="276148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&amp; Sep spikes are predictable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30168" y="25511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30168" y="276148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capacity isn't planned for them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63056" y="25511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63056" y="276148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Pre-book capacity 3 weeks early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8321040" cy="676656"/>
          </a:xfrm>
          <a:prstGeom prst="rect">
            <a:avLst/>
          </a:prstGeom>
          <a:solidFill>
            <a:srgbClr val="1E3461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383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7280" y="33375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97280" y="354787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 Express proves it's possible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30168" y="33375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30168" y="354787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43.7% — with same routes, same products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63056" y="33375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63056" y="354787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 is already in-house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059936"/>
            <a:ext cx="8321040" cy="676656"/>
          </a:xfrm>
          <a:prstGeom prst="rect">
            <a:avLst/>
          </a:prstGeom>
          <a:solidFill>
            <a:srgbClr val="1E3461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1696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97280" y="41239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97280" y="433425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Inaction costs ₹21 Cr/year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30168" y="41239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630168" y="433425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costs far less than the problem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63056" y="41239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63056" y="433425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payback within 6–8 weeks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809744"/>
            <a:ext cx="8321040" cy="237744"/>
          </a:xfrm>
          <a:prstGeom prst="rect">
            <a:avLst/>
          </a:prstGeom>
          <a:solidFill>
            <a:srgbClr val="F4841F"/>
          </a:solidFill>
          <a:ln w="12700">
            <a:solidFill>
              <a:srgbClr val="F4841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81888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Saiteja Jakkula  |  5,000 Orders, Jan–Dec 2023  |  Tools: SQL, Excel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841F"/>
          </a:solidFill>
          <a:ln w="12700">
            <a:solidFill>
              <a:srgbClr val="F48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48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logistics problem.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strategic business risk.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8229600" cy="36576"/>
          </a:xfrm>
          <a:prstGeom prst="rect">
            <a:avLst/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2697480" cy="2788920"/>
          </a:xfrm>
          <a:prstGeom prst="rect">
            <a:avLst/>
          </a:prstGeom>
          <a:solidFill>
            <a:srgbClr val="1E3461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26974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3852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Root Causes — Both Fixable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090672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contracts without SLA penalties, and fixed capacity that doesn't scale to predictable demand surges. Neither needs capital investment — both need process reform.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0128" y="1828800"/>
            <a:ext cx="2697480" cy="2788920"/>
          </a:xfrm>
          <a:prstGeom prst="rect">
            <a:avLst/>
          </a:prstGeom>
          <a:solidFill>
            <a:srgbClr val="1E3461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828800"/>
            <a:ext cx="26974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93852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47288" y="237744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 Already Exists In-House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47288" y="3090672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 Express delivers at 43.7% delay rate on the same routes. A sub-25% delay rate is not theoretical — it is operational and achievable within 12 months.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1828800"/>
            <a:ext cx="2697480" cy="2788920"/>
          </a:xfrm>
          <a:prstGeom prst="rect">
            <a:avLst/>
          </a:prstGeom>
          <a:solidFill>
            <a:srgbClr val="1E3461"/>
          </a:solidFill>
          <a:ln w="12700">
            <a:solidFill>
              <a:srgbClr val="F484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3056" y="1828800"/>
            <a:ext cx="2697480" cy="64008"/>
          </a:xfrm>
          <a:prstGeom prst="rect">
            <a:avLst/>
          </a:prstGeom>
          <a:solidFill>
            <a:srgbClr val="F4841F"/>
          </a:solidFill>
          <a:ln w="12700">
            <a:solidFill>
              <a:srgbClr val="F484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0216" y="193852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8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0216" y="237744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Inaction is High and Compounding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0216" y="3090672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 at 49.5% delay is another customer cohort lost. Delivery is no longer a back-office metric — it is a front-line driver of competitive advantage.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F4841F"/>
          </a:solidFill>
          <a:ln w="12700">
            <a:solidFill>
              <a:srgbClr val="F484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727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operational, not structural — and worth Rs.18–21 Crore in annual revenue protection.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Delay Case Study</dc:title>
  <dc:subject>PptxGenJS Presentation</dc:subject>
  <dc:creator>PptxGenJS</dc:creator>
  <cp:lastModifiedBy>PptxGenJS</cp:lastModifiedBy>
  <cp:revision>1</cp:revision>
  <dcterms:created xsi:type="dcterms:W3CDTF">2026-05-02T19:56:32Z</dcterms:created>
  <dcterms:modified xsi:type="dcterms:W3CDTF">2026-05-02T19:56:32Z</dcterms:modified>
</cp:coreProperties>
</file>